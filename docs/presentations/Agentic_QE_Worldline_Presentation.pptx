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Agentic QE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B4B4DC"/>
                </a:solidFill>
              </a:defRPr>
            </a:pPr>
            <a:r>
              <a:t>From Automation to Autonomous Assurance</a:t>
            </a:r>
            <a:br/>
            <a:r>
              <a:t>Worldline Strategic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64A0"/>
                </a:solidFill>
              </a:defRPr>
            </a:pPr>
            <a:r>
              <a:t>What is Agentic QE?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C"/>
                </a:solidFill>
              </a:defRPr>
            </a:pPr>
            <a:r>
              <a:t>• AI-powered Quality Engineering platform with 60+ specialized agents</a:t>
            </a:r>
          </a:p>
          <a:p>
            <a:pPr>
              <a:spcAft>
                <a:spcPts val="1200"/>
              </a:spcAft>
              <a:defRPr sz="2200">
                <a:solidFill>
                  <a:srgbClr val="32323C"/>
                </a:solidFill>
              </a:defRPr>
            </a:pPr>
            <a:r>
              <a:t>• Open-source framework (github.com/proffesor-for-testing/agentic-qe)</a:t>
            </a:r>
          </a:p>
          <a:p>
            <a:pPr>
              <a:spcAft>
                <a:spcPts val="1200"/>
              </a:spcAft>
              <a:defRPr sz="2200">
                <a:solidFill>
                  <a:srgbClr val="32323C"/>
                </a:solidFill>
              </a:defRPr>
            </a:pPr>
            <a:r>
              <a:t>• Works with 11 coding agent platforms: Claude Code, Cursor, Cline, Copilot, and more</a:t>
            </a:r>
          </a:p>
          <a:p>
            <a:pPr>
              <a:spcAft>
                <a:spcPts val="1200"/>
              </a:spcAft>
              <a:defRPr sz="2200">
                <a:solidFill>
                  <a:srgbClr val="32323C"/>
                </a:solidFill>
              </a:defRPr>
            </a:pPr>
            <a:r>
              <a:t>• Autonomous test generation, coverage analysis, defect prediction, and self-healing</a:t>
            </a:r>
          </a:p>
          <a:p>
            <a:pPr>
              <a:spcAft>
                <a:spcPts val="1200"/>
              </a:spcAft>
              <a:defRPr sz="2200">
                <a:solidFill>
                  <a:srgbClr val="32323C"/>
                </a:solidFill>
              </a:defRPr>
            </a:pPr>
            <a:r>
              <a:t>• Learns codebase patterns over time - improves with every interaction</a:t>
            </a:r>
          </a:p>
          <a:p>
            <a:pPr>
              <a:spcAft>
                <a:spcPts val="1200"/>
              </a:spcAft>
              <a:defRPr sz="2200">
                <a:solidFill>
                  <a:srgbClr val="32323C"/>
                </a:solidFill>
              </a:defRPr>
            </a:pPr>
            <a:r>
              <a:t>• Multi-agent orchestration with Queen Coordinator for complex QE tasks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Agentic QE Brings to Worldline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71600"/>
            <a:ext cx="3474720" cy="3840480"/>
          </a:xfrm>
          <a:prstGeom prst="roundRect">
            <a:avLst/>
          </a:prstGeom>
          <a:solidFill>
            <a:srgbClr val="4682B4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/>
            </a:pPr>
            <a:r>
              <a:t>🚀</a:t>
            </a:r>
          </a:p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</a:defRPr>
            </a:pPr>
            <a:r>
              <a:t>For Developers</a:t>
            </a:r>
          </a:p>
          <a:p>
            <a:pPr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40% faster test creation</a:t>
            </a:r>
          </a:p>
          <a:p>
            <a:pPr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Auto-generates unit &amp; integration tests</a:t>
            </a:r>
          </a:p>
          <a:p>
            <a:pPr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Coverage gap identification</a:t>
            </a:r>
          </a:p>
          <a:p>
            <a:pPr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Self-healing test scripts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371600"/>
            <a:ext cx="3474720" cy="3840480"/>
          </a:xfrm>
          <a:prstGeom prst="roundRect">
            <a:avLst/>
          </a:prstGeom>
          <a:solidFill>
            <a:srgbClr val="009688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64592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/>
            </a:pPr>
            <a:r>
              <a:t>⚡</a:t>
            </a:r>
          </a:p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</a:defRPr>
            </a:pPr>
            <a:r>
              <a:t>For Testers &amp; QAs</a:t>
            </a:r>
          </a:p>
          <a:p>
            <a:pPr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70% productivity improvement</a:t>
            </a:r>
          </a:p>
          <a:p>
            <a:pPr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Risk-based test prioritization</a:t>
            </a:r>
          </a:p>
          <a:p>
            <a:pPr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Autonomous test orchestration</a:t>
            </a:r>
          </a:p>
          <a:p>
            <a:pPr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Real-time quality dashboards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3474720" cy="3840480"/>
          </a:xfrm>
          <a:prstGeom prst="roundRect">
            <a:avLst/>
          </a:prstGeom>
          <a:solidFill>
            <a:srgbClr val="FF9800"/>
          </a:solidFill>
          <a:ln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64592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/>
            </a:pPr>
            <a:r>
              <a:t>🎯</a:t>
            </a:r>
          </a:p>
          <a:p>
            <a:pPr algn="ctr">
              <a:spcBef>
                <a:spcPts val="800"/>
              </a:spcBef>
              <a:defRPr sz="2000" b="1">
                <a:solidFill>
                  <a:srgbClr val="FFFFFF"/>
                </a:solidFill>
              </a:defRPr>
            </a:pPr>
            <a:r>
              <a:t>For the Business</a:t>
            </a:r>
          </a:p>
          <a:p>
            <a:pPr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Faster time-to-market</a:t>
            </a:r>
          </a:p>
          <a:p>
            <a:pPr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Reduced QA operational costs</a:t>
            </a:r>
          </a:p>
          <a:p>
            <a:pPr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Higher release confidence</a:t>
            </a:r>
          </a:p>
          <a:p>
            <a:pPr>
              <a:spcAft>
                <a:spcPts val="400"/>
              </a:spcAft>
              <a:defRPr sz="1400">
                <a:solidFill>
                  <a:srgbClr val="F0F0F0"/>
                </a:solidFill>
              </a:defRPr>
            </a:pPr>
            <a:r>
              <a:t>• Enterprise-grade governance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4682B4"/>
                </a:solidFill>
              </a:defRPr>
            </a:pPr>
            <a:r>
              <a:t>Traditional QE vs Agentic QE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64646E"/>
                </a:solidFill>
              </a:defRPr>
            </a:pPr>
            <a:r>
              <a:t>Traditional Quality Engineering</a:t>
            </a:r>
          </a:p>
          <a:p>
            <a:pPr>
              <a:spcAft>
                <a:spcPts val="800"/>
              </a:spcAft>
              <a:defRPr sz="1800">
                <a:solidFill>
                  <a:srgbClr val="3C3C46"/>
                </a:solidFill>
              </a:defRPr>
            </a:pPr>
            <a:r>
              <a:t>• Manual test case creation</a:t>
            </a:r>
          </a:p>
          <a:p>
            <a:pPr>
              <a:spcAft>
                <a:spcPts val="800"/>
              </a:spcAft>
              <a:defRPr sz="1800">
                <a:solidFill>
                  <a:srgbClr val="3C3C46"/>
                </a:solidFill>
              </a:defRPr>
            </a:pPr>
            <a:r>
              <a:t>• Static automation scripts</a:t>
            </a:r>
          </a:p>
          <a:p>
            <a:pPr>
              <a:spcAft>
                <a:spcPts val="800"/>
              </a:spcAft>
              <a:defRPr sz="1800">
                <a:solidFill>
                  <a:srgbClr val="3C3C46"/>
                </a:solidFill>
              </a:defRPr>
            </a:pPr>
            <a:r>
              <a:t>• Reactive defect detection</a:t>
            </a:r>
          </a:p>
          <a:p>
            <a:pPr>
              <a:spcAft>
                <a:spcPts val="800"/>
              </a:spcAft>
              <a:defRPr sz="1800">
                <a:solidFill>
                  <a:srgbClr val="3C3C46"/>
                </a:solidFill>
              </a:defRPr>
            </a:pPr>
            <a:r>
              <a:t>• High maintenance overhead</a:t>
            </a:r>
          </a:p>
          <a:p>
            <a:pPr>
              <a:spcAft>
                <a:spcPts val="800"/>
              </a:spcAft>
              <a:defRPr sz="1800">
                <a:solidFill>
                  <a:srgbClr val="3C3C46"/>
                </a:solidFill>
              </a:defRPr>
            </a:pPr>
            <a:r>
              <a:t>• Limited coverage visibility</a:t>
            </a:r>
          </a:p>
          <a:p>
            <a:pPr>
              <a:spcAft>
                <a:spcPts val="800"/>
              </a:spcAft>
              <a:defRPr sz="1800">
                <a:solidFill>
                  <a:srgbClr val="3C3C46"/>
                </a:solidFill>
              </a:defRPr>
            </a:pPr>
            <a:r>
              <a:t>• Human-driven decision making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7850"/>
                </a:solidFill>
              </a:defRPr>
            </a:pPr>
            <a:r>
              <a:t>Agentic Quality Engineering</a:t>
            </a:r>
          </a:p>
          <a:p>
            <a:pPr>
              <a:spcAft>
                <a:spcPts val="800"/>
              </a:spcAft>
              <a:defRPr sz="1800">
                <a:solidFill>
                  <a:srgbClr val="3C3C46"/>
                </a:solidFill>
              </a:defRPr>
            </a:pPr>
            <a:r>
              <a:t>• AI-generated tests (40% better coverage)</a:t>
            </a:r>
          </a:p>
          <a:p>
            <a:pPr>
              <a:spcAft>
                <a:spcPts val="800"/>
              </a:spcAft>
              <a:defRPr sz="1800">
                <a:solidFill>
                  <a:srgbClr val="3C3C46"/>
                </a:solidFill>
              </a:defRPr>
            </a:pPr>
            <a:r>
              <a:t>• Self-healing autonomous agents</a:t>
            </a:r>
          </a:p>
          <a:p>
            <a:pPr>
              <a:spcAft>
                <a:spcPts val="800"/>
              </a:spcAft>
              <a:defRPr sz="1800">
                <a:solidFill>
                  <a:srgbClr val="3C3C46"/>
                </a:solidFill>
              </a:defRPr>
            </a:pPr>
            <a:r>
              <a:t>• Proactive defect prediction</a:t>
            </a:r>
          </a:p>
          <a:p>
            <a:pPr>
              <a:spcAft>
                <a:spcPts val="800"/>
              </a:spcAft>
              <a:defRPr sz="1800">
                <a:solidFill>
                  <a:srgbClr val="3C3C46"/>
                </a:solidFill>
              </a:defRPr>
            </a:pPr>
            <a:r>
              <a:t>• Continuous learning &amp; optimization</a:t>
            </a:r>
          </a:p>
          <a:p>
            <a:pPr>
              <a:spcAft>
                <a:spcPts val="800"/>
              </a:spcAft>
              <a:defRPr sz="1800">
                <a:solidFill>
                  <a:srgbClr val="3C3C46"/>
                </a:solidFill>
              </a:defRPr>
            </a:pPr>
            <a:r>
              <a:t>• Real-time risk-based coverage</a:t>
            </a:r>
          </a:p>
          <a:p>
            <a:pPr>
              <a:spcAft>
                <a:spcPts val="800"/>
              </a:spcAft>
              <a:defRPr sz="1800">
                <a:solidFill>
                  <a:srgbClr val="3C3C46"/>
                </a:solidFill>
              </a:defRPr>
            </a:pPr>
            <a:r>
              <a:t>• Multi-agent orchestration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3C64"/>
                </a:solidFill>
              </a:defRPr>
            </a:pPr>
            <a:r>
              <a:t>How Agentic QE Fits Worldline's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0064A0"/>
                </a:solidFill>
              </a:defRPr>
            </a:pPr>
            <a:r>
              <a:t>▸ Accelerates Digital Transformation</a:t>
            </a:r>
          </a:p>
          <a:p>
            <a:pPr>
              <a:spcAft>
                <a:spcPts val="1600"/>
              </a:spcAft>
              <a:defRPr sz="2200">
                <a:solidFill>
                  <a:srgbClr val="282832"/>
                </a:solidFill>
              </a:defRPr>
            </a:pPr>
            <a:r>
              <a:t>  Aligns with Worldline's AI-first strategy for payment platforms</a:t>
            </a:r>
          </a:p>
          <a:p>
            <a:pPr>
              <a:spcAft>
                <a:spcPts val="1600"/>
              </a:spcAft>
              <a:defRPr sz="2200">
                <a:solidFill>
                  <a:srgbClr val="282832"/>
                </a:solidFill>
              </a:defRPr>
            </a:pPr>
          </a:p>
          <a:p>
            <a:pPr>
              <a:spcAft>
                <a:spcPts val="1600"/>
              </a:spcAft>
              <a:defRPr sz="2200" b="1">
                <a:solidFill>
                  <a:srgbClr val="0064A0"/>
                </a:solidFill>
              </a:defRPr>
            </a:pPr>
            <a:r>
              <a:t>▸ Enhances Payment Security &amp; Compliance</a:t>
            </a:r>
          </a:p>
          <a:p>
            <a:pPr>
              <a:spcAft>
                <a:spcPts val="1600"/>
              </a:spcAft>
              <a:defRPr sz="2200">
                <a:solidFill>
                  <a:srgbClr val="282832"/>
                </a:solidFill>
              </a:defRPr>
            </a:pPr>
            <a:r>
              <a:t>  Automated compliance testing for financial regulations (PCI-DSS, SOX)</a:t>
            </a:r>
          </a:p>
          <a:p>
            <a:pPr>
              <a:spcAft>
                <a:spcPts val="1600"/>
              </a:spcAft>
              <a:defRPr sz="2200">
                <a:solidFill>
                  <a:srgbClr val="282832"/>
                </a:solidFill>
              </a:defRPr>
            </a:pPr>
          </a:p>
          <a:p>
            <a:pPr>
              <a:spcAft>
                <a:spcPts val="1600"/>
              </a:spcAft>
              <a:defRPr sz="2200" b="1">
                <a:solidFill>
                  <a:srgbClr val="0064A0"/>
                </a:solidFill>
              </a:defRPr>
            </a:pPr>
            <a:r>
              <a:t>▸ Scales with Global Operations</a:t>
            </a:r>
          </a:p>
          <a:p>
            <a:pPr>
              <a:spcAft>
                <a:spcPts val="1600"/>
              </a:spcAft>
              <a:defRPr sz="2200">
                <a:solidFill>
                  <a:srgbClr val="282832"/>
                </a:solidFill>
              </a:defRPr>
            </a:pPr>
            <a:r>
              <a:t>  Multi-agent system handles distributed teams across 50+ countries</a:t>
            </a:r>
          </a:p>
          <a:p>
            <a:pPr>
              <a:spcAft>
                <a:spcPts val="1600"/>
              </a:spcAft>
              <a:defRPr sz="2200">
                <a:solidFill>
                  <a:srgbClr val="282832"/>
                </a:solidFill>
              </a:defRPr>
            </a:pPr>
          </a:p>
          <a:p>
            <a:pPr>
              <a:spcAft>
                <a:spcPts val="1600"/>
              </a:spcAft>
              <a:defRPr sz="2200" b="1">
                <a:solidFill>
                  <a:srgbClr val="0064A0"/>
                </a:solidFill>
              </a:defRPr>
            </a:pPr>
            <a:r>
              <a:t>▸ Reduces TCO for QA</a:t>
            </a:r>
          </a:p>
          <a:p>
            <a:pPr>
              <a:spcAft>
                <a:spcPts val="1600"/>
              </a:spcAft>
              <a:defRPr sz="2200">
                <a:solidFill>
                  <a:srgbClr val="282832"/>
                </a:solidFill>
              </a:defRPr>
            </a:pPr>
            <a:r>
              <a:t>  Open-source foundation with enterprise capabilities</a:t>
            </a:r>
          </a:p>
          <a:p>
            <a:pPr>
              <a:spcAft>
                <a:spcPts val="1600"/>
              </a:spcAft>
              <a:defRPr sz="2200">
                <a:solidFill>
                  <a:srgbClr val="282832"/>
                </a:solidFill>
              </a:defRPr>
            </a:pPr>
          </a:p>
          <a:p>
            <a:pPr>
              <a:spcAft>
                <a:spcPts val="1600"/>
              </a:spcAft>
              <a:defRPr sz="2200" b="1">
                <a:solidFill>
                  <a:srgbClr val="0064A0"/>
                </a:solidFill>
              </a:defRPr>
            </a:pPr>
            <a:r>
              <a:t>▸ Competitive Advantage</a:t>
            </a:r>
          </a:p>
          <a:p>
            <a:pPr>
              <a:spcAft>
                <a:spcPts val="1600"/>
              </a:spcAft>
              <a:defRPr sz="2200">
                <a:solidFill>
                  <a:srgbClr val="282832"/>
                </a:solidFill>
              </a:defRPr>
            </a:pPr>
            <a:r>
              <a:t>  Following Amdocs &amp; Tech Mahindra - first mover in payment QE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9664"/>
                </a:solidFill>
              </a:defRPr>
            </a:pPr>
            <a:r>
              <a:t>Industry Leaders Adopting Agentic QE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2323C"/>
                </a:solidFill>
              </a:defRPr>
            </a:pPr>
            <a:r>
              <a:t>• Amdocs - Launched 'Amdocs Quality Engineering Agentic AI Solution'</a:t>
            </a:r>
          </a:p>
          <a:p>
            <a:pPr>
              <a:spcAft>
                <a:spcPts val="1200"/>
              </a:spcAft>
              <a:defRPr sz="2200">
                <a:solidFill>
                  <a:srgbClr val="32323C"/>
                </a:solidFill>
              </a:defRPr>
            </a:pPr>
            <a:r>
              <a:t>• Tech Mahindra - Multi-agent AI for quality engineering transformations</a:t>
            </a:r>
          </a:p>
          <a:p>
            <a:pPr>
              <a:spcAft>
                <a:spcPts val="1200"/>
              </a:spcAft>
              <a:defRPr sz="2200">
                <a:solidFill>
                  <a:srgbClr val="32323C"/>
                </a:solidFill>
              </a:defRPr>
            </a:pPr>
            <a:r>
              <a:t>• Cognizant - 50+ MVP use cases, ~70% productivity improvement reported</a:t>
            </a:r>
          </a:p>
          <a:p>
            <a:pPr>
              <a:spcAft>
                <a:spcPts val="1200"/>
              </a:spcAft>
              <a:defRPr sz="2200">
                <a:solidFill>
                  <a:srgbClr val="32323C"/>
                </a:solidFill>
              </a:defRPr>
            </a:pPr>
            <a:r>
              <a:t>• Narwal.ai - Enterprise QE accelerators with autonomous assurance</a:t>
            </a:r>
          </a:p>
          <a:p>
            <a:pPr>
              <a:spcAft>
                <a:spcPts val="1200"/>
              </a:spcAft>
              <a:defRPr sz="2200">
                <a:solidFill>
                  <a:srgbClr val="32323C"/>
                </a:solidFill>
              </a:defRPr>
            </a:pPr>
            <a:r>
              <a:t>• Gartner predicts 33% of enterprise apps will have agentic AI by 2028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E3C64"/>
                </a:solidFill>
              </a:defRPr>
            </a:pPr>
            <a:r>
              <a:t>Recommended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 b="1">
                <a:solidFill>
                  <a:srgbClr val="0064A0"/>
                </a:solidFill>
              </a:defRPr>
            </a:pPr>
            <a:r>
              <a:t>▸ Pilot Phase (3 months)</a:t>
            </a:r>
          </a:p>
          <a:p>
            <a:pPr>
              <a:spcAft>
                <a:spcPts val="1600"/>
              </a:spcAft>
              <a:defRPr sz="2200">
                <a:solidFill>
                  <a:srgbClr val="282832"/>
                </a:solidFill>
              </a:defRPr>
            </a:pPr>
            <a:r>
              <a:t>  Deploy Agentic QE on one payment platform project</a:t>
            </a:r>
          </a:p>
          <a:p>
            <a:pPr>
              <a:spcAft>
                <a:spcPts val="1600"/>
              </a:spcAft>
              <a:defRPr sz="2200">
                <a:solidFill>
                  <a:srgbClr val="282832"/>
                </a:solidFill>
              </a:defRPr>
            </a:pPr>
          </a:p>
          <a:p>
            <a:pPr>
              <a:spcAft>
                <a:spcPts val="1600"/>
              </a:spcAft>
              <a:defRPr sz="2200" b="1">
                <a:solidFill>
                  <a:srgbClr val="0064A0"/>
                </a:solidFill>
              </a:defRPr>
            </a:pPr>
            <a:r>
              <a:t>▸ Evaluation</a:t>
            </a:r>
          </a:p>
          <a:p>
            <a:pPr>
              <a:spcAft>
                <a:spcPts val="1600"/>
              </a:spcAft>
              <a:defRPr sz="2200">
                <a:solidFill>
                  <a:srgbClr val="282832"/>
                </a:solidFill>
              </a:defRPr>
            </a:pPr>
            <a:r>
              <a:t>  Measure: test coverage %, time-to-market, defect escape rate</a:t>
            </a:r>
          </a:p>
          <a:p>
            <a:pPr>
              <a:spcAft>
                <a:spcPts val="1600"/>
              </a:spcAft>
              <a:defRPr sz="2200">
                <a:solidFill>
                  <a:srgbClr val="282832"/>
                </a:solidFill>
              </a:defRPr>
            </a:pPr>
          </a:p>
          <a:p>
            <a:pPr>
              <a:spcAft>
                <a:spcPts val="1600"/>
              </a:spcAft>
              <a:defRPr sz="2200" b="1">
                <a:solidFill>
                  <a:srgbClr val="0064A0"/>
                </a:solidFill>
              </a:defRPr>
            </a:pPr>
            <a:r>
              <a:t>▸ Expansion</a:t>
            </a:r>
          </a:p>
          <a:p>
            <a:pPr>
              <a:spcAft>
                <a:spcPts val="1600"/>
              </a:spcAft>
              <a:defRPr sz="2200">
                <a:solidFill>
                  <a:srgbClr val="282832"/>
                </a:solidFill>
              </a:defRPr>
            </a:pPr>
            <a:r>
              <a:t>  Roll out to other product lines based on pilot results</a:t>
            </a:r>
          </a:p>
          <a:p>
            <a:pPr>
              <a:spcAft>
                <a:spcPts val="1600"/>
              </a:spcAft>
              <a:defRPr sz="2200">
                <a:solidFill>
                  <a:srgbClr val="282832"/>
                </a:solidFill>
              </a:defRPr>
            </a:pPr>
          </a:p>
          <a:p>
            <a:pPr>
              <a:spcAft>
                <a:spcPts val="1600"/>
              </a:spcAft>
              <a:defRPr sz="2200" b="1">
                <a:solidFill>
                  <a:srgbClr val="0064A0"/>
                </a:solidFill>
              </a:defRPr>
            </a:pPr>
            <a:r>
              <a:t>▸ Partnership</a:t>
            </a:r>
          </a:p>
          <a:p>
            <a:pPr>
              <a:spcAft>
                <a:spcPts val="1600"/>
              </a:spcAft>
              <a:defRPr sz="2200">
                <a:solidFill>
                  <a:srgbClr val="282832"/>
                </a:solidFill>
              </a:defRPr>
            </a:pPr>
            <a:r>
              <a:t>  Consider collaboration with Agentic QE open-source community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The Future of Quality is Autonomous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9319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B4C8E6"/>
                </a:solidFill>
              </a:defRPr>
            </a:pPr>
            <a:r>
              <a:t>Ready to transform Worldline's Quality Engineering?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