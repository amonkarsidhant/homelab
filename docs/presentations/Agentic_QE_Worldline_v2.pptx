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93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1277295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800" b="1">
                <a:solidFill>
                  <a:srgbClr val="FFFFFF"/>
                </a:solidFill>
              </a:defRPr>
            </a:pPr>
            <a:r>
              <a:t>Unified Assurance Platform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3840480"/>
            <a:ext cx="11277295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600">
                <a:solidFill>
                  <a:srgbClr val="B4C8E6"/>
                </a:solidFill>
              </a:defRPr>
            </a:pPr>
            <a:r>
              <a:t>Quality + Security + Resilience as Code</a:t>
            </a:r>
            <a:br/>
            <a:r>
              <a:t>Executive Business Case | Worldline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93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112772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400" b="1">
                <a:solidFill>
                  <a:srgbClr val="FFFFFF"/>
                </a:solidFill>
              </a:defRPr>
            </a:pPr>
            <a:r>
              <a:t>Executive Summary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182880" y="1371600"/>
            <a:ext cx="2545003" cy="3200400"/>
          </a:xfrm>
          <a:prstGeom prst="roundRect">
            <a:avLst/>
          </a:prstGeom>
          <a:solidFill>
            <a:srgbClr val="FFFFFF"/>
          </a:solidFill>
          <a:ln>
            <a:solidFill>
              <a:srgbClr val="2D55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1645920"/>
            <a:ext cx="2179243" cy="2651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000" b="1">
                <a:solidFill>
                  <a:srgbClr val="2D5591"/>
                </a:solidFill>
              </a:defRPr>
            </a:pPr>
            <a:r>
              <a:t>€9.09M</a:t>
            </a:r>
          </a:p>
          <a:p>
            <a:pPr algn="ctr">
              <a:defRPr sz="1800">
                <a:solidFill>
                  <a:srgbClr val="3C414B"/>
                </a:solidFill>
              </a:defRPr>
            </a:pPr>
            <a:r>
              <a:t>Annual P&amp;L Benefit</a:t>
            </a:r>
            <a:br/>
            <a:r>
              <a:t>(at 100% adoption)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002203" y="1371600"/>
            <a:ext cx="2545003" cy="3200400"/>
          </a:xfrm>
          <a:prstGeom prst="roundRect">
            <a:avLst/>
          </a:prstGeom>
          <a:solidFill>
            <a:srgbClr val="FFFFFF"/>
          </a:solidFill>
          <a:ln>
            <a:solidFill>
              <a:srgbClr val="2D55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185083" y="1645920"/>
            <a:ext cx="2179243" cy="2651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000" b="1">
                <a:solidFill>
                  <a:srgbClr val="2D5591"/>
                </a:solidFill>
              </a:defRPr>
            </a:pPr>
            <a:r>
              <a:t>122,400</a:t>
            </a:r>
          </a:p>
          <a:p>
            <a:pPr algn="ctr">
              <a:defRPr sz="1800">
                <a:solidFill>
                  <a:srgbClr val="3C414B"/>
                </a:solidFill>
              </a:defRPr>
            </a:pPr>
            <a:r>
              <a:t>Hours Reclaimed</a:t>
            </a:r>
            <a:br/>
            <a:r>
              <a:t>per year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821527" y="1371600"/>
            <a:ext cx="2545003" cy="3200400"/>
          </a:xfrm>
          <a:prstGeom prst="roundRect">
            <a:avLst/>
          </a:prstGeom>
          <a:solidFill>
            <a:srgbClr val="FFFFFF"/>
          </a:solidFill>
          <a:ln>
            <a:solidFill>
              <a:srgbClr val="2D55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004407" y="1645920"/>
            <a:ext cx="2179243" cy="2651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000" b="1">
                <a:solidFill>
                  <a:srgbClr val="2D5591"/>
                </a:solidFill>
              </a:defRPr>
            </a:pPr>
            <a:r>
              <a:t>72</a:t>
            </a:r>
          </a:p>
          <a:p>
            <a:pPr algn="ctr">
              <a:defRPr sz="1800">
                <a:solidFill>
                  <a:srgbClr val="3C414B"/>
                </a:solidFill>
              </a:defRPr>
            </a:pPr>
            <a:r>
              <a:t>FTE Equivalent</a:t>
            </a:r>
            <a:br/>
            <a:r>
              <a:t>(liberated capacity)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640851" y="1371600"/>
            <a:ext cx="2545003" cy="3200400"/>
          </a:xfrm>
          <a:prstGeom prst="roundRect">
            <a:avLst/>
          </a:prstGeom>
          <a:solidFill>
            <a:srgbClr val="FFFFFF"/>
          </a:solidFill>
          <a:ln>
            <a:solidFill>
              <a:srgbClr val="2D55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823731" y="1645920"/>
            <a:ext cx="2179243" cy="2651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000" b="1">
                <a:solidFill>
                  <a:srgbClr val="2D5591"/>
                </a:solidFill>
              </a:defRPr>
            </a:pPr>
            <a:r>
              <a:t>€680K</a:t>
            </a:r>
          </a:p>
          <a:p>
            <a:pPr algn="ctr">
              <a:defRPr sz="1800">
                <a:solidFill>
                  <a:srgbClr val="3C414B"/>
                </a:solidFill>
              </a:defRPr>
            </a:pPr>
            <a:r>
              <a:t>Annual OPEX</a:t>
            </a:r>
            <a:br/>
            <a:r>
              <a:t>(at 100% adoption)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93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112772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400" b="1">
                <a:solidFill>
                  <a:srgbClr val="FFFFFF"/>
                </a:solidFill>
              </a:defRPr>
            </a:pPr>
            <a:r>
              <a:t>The Transformation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188720"/>
            <a:ext cx="530352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64DCB4"/>
                </a:solidFill>
              </a:defRPr>
            </a:pPr>
            <a:r>
              <a:t>▸ From Optional → Default Assurance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0" y="1188720"/>
            <a:ext cx="530352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>
                <a:solidFill>
                  <a:srgbClr val="DCDCF0"/>
                </a:solidFill>
              </a:defRPr>
            </a:pPr>
            <a:r>
              <a:t>Standardized CI/CD guardrails with governed exceptions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2286000"/>
            <a:ext cx="530352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64DCB4"/>
                </a:solidFill>
              </a:defRPr>
            </a:pPr>
            <a:r>
              <a:t>▸ Manual Regression → Automated Verification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0" y="2286000"/>
            <a:ext cx="530352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>
                <a:solidFill>
                  <a:srgbClr val="DCDCF0"/>
                </a:solidFill>
              </a:defRPr>
            </a:pPr>
            <a:r>
              <a:t>Expand reliable automation, reduce late-cycle rework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3383280"/>
            <a:ext cx="530352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64DCB4"/>
                </a:solidFill>
              </a:defRPr>
            </a:pPr>
            <a:r>
              <a:t>▸ Find Issues Late → Prevent Early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0" y="3383280"/>
            <a:ext cx="530352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>
                <a:solidFill>
                  <a:srgbClr val="DCDCF0"/>
                </a:solidFill>
              </a:defRPr>
            </a:pPr>
            <a:r>
              <a:t>SAST/SCA/DAST fail gates close observed gaps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4480560"/>
            <a:ext cx="530352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64DCB4"/>
                </a:solidFill>
              </a:defRPr>
            </a:pPr>
            <a:r>
              <a:t>▸ Reactive Reliability → Proactive Resilience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0" y="4480560"/>
            <a:ext cx="530352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>
                <a:solidFill>
                  <a:srgbClr val="DCDCF0"/>
                </a:solidFill>
              </a:defRPr>
            </a:pPr>
            <a:r>
              <a:t>Guard-railed stress/load/chaos pre-prod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5577840"/>
            <a:ext cx="530352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64DCB4"/>
                </a:solidFill>
              </a:defRPr>
            </a:pPr>
            <a:r>
              <a:t>▸ Manual Evidence → Automated Evidence Packs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0" y="5577840"/>
            <a:ext cx="530352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>
                <a:solidFill>
                  <a:srgbClr val="DCDCF0"/>
                </a:solidFill>
              </a:defRPr>
            </a:pPr>
            <a:r>
              <a:t>Repeatable release attestations from pipelines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11277295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2D5591"/>
                </a:solidFill>
              </a:defRPr>
            </a:pPr>
            <a:r>
              <a:t>The 4 Pillars of Assurance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457200" y="1097280"/>
            <a:ext cx="5669280" cy="530352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2D55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325880"/>
            <a:ext cx="512064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2D5591"/>
                </a:solidFill>
              </a:defRPr>
            </a:pPr>
            <a:r>
              <a:t>Pillar 1 CI/CD Guardrails</a:t>
            </a:r>
          </a:p>
          <a:p>
            <a:pPr>
              <a:spcBef>
                <a:spcPts val="800"/>
              </a:spcBef>
              <a:defRPr sz="1400">
                <a:solidFill>
                  <a:srgbClr val="646464"/>
                </a:solidFill>
              </a:defRPr>
            </a:pPr>
            <a:r>
              <a:t>42,840 hrs/yr (25 FTEs)</a:t>
            </a:r>
          </a:p>
          <a:p>
            <a:pPr>
              <a:spcAft>
                <a:spcPts val="400"/>
              </a:spcAft>
              <a:defRPr sz="1300">
                <a:solidFill>
                  <a:srgbClr val="3C3C41"/>
                </a:solidFill>
              </a:defRPr>
            </a:pPr>
            <a:r>
              <a:t>• SAST/SCA/DAST enforcement</a:t>
            </a:r>
          </a:p>
          <a:p>
            <a:pPr>
              <a:spcAft>
                <a:spcPts val="400"/>
              </a:spcAft>
              <a:defRPr sz="1300">
                <a:solidFill>
                  <a:srgbClr val="3C3C41"/>
                </a:solidFill>
              </a:defRPr>
            </a:pPr>
            <a:r>
              <a:t>• Container/IaC scanning</a:t>
            </a:r>
          </a:p>
          <a:p>
            <a:pPr>
              <a:spcAft>
                <a:spcPts val="400"/>
              </a:spcAft>
              <a:defRPr sz="1300">
                <a:solidFill>
                  <a:srgbClr val="3C3C41"/>
                </a:solidFill>
              </a:defRPr>
            </a:pPr>
            <a:r>
              <a:t>• Fail-gates with exceptions</a:t>
            </a:r>
          </a:p>
          <a:p>
            <a:pPr>
              <a:spcAft>
                <a:spcPts val="400"/>
              </a:spcAft>
              <a:defRPr sz="1300">
                <a:solidFill>
                  <a:srgbClr val="3C3C41"/>
                </a:solidFill>
              </a:defRPr>
            </a:pPr>
            <a:r>
              <a:t>• Standardized policy as code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583680" y="1097280"/>
            <a:ext cx="5669280" cy="530352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008C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858000" y="1325880"/>
            <a:ext cx="512064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008C78"/>
                </a:solidFill>
              </a:defRPr>
            </a:pPr>
            <a:r>
              <a:t>Pillar 2 Automated Verification</a:t>
            </a:r>
          </a:p>
          <a:p>
            <a:pPr>
              <a:spcBef>
                <a:spcPts val="800"/>
              </a:spcBef>
              <a:defRPr sz="1400">
                <a:solidFill>
                  <a:srgbClr val="646464"/>
                </a:solidFill>
              </a:defRPr>
            </a:pPr>
            <a:r>
              <a:t>48,960 hrs/yr (29 FTEs)</a:t>
            </a:r>
          </a:p>
          <a:p>
            <a:pPr>
              <a:spcAft>
                <a:spcPts val="400"/>
              </a:spcAft>
              <a:defRPr sz="1300">
                <a:solidFill>
                  <a:srgbClr val="3C3C41"/>
                </a:solidFill>
              </a:defRPr>
            </a:pPr>
            <a:r>
              <a:t>• Test industrialization</a:t>
            </a:r>
          </a:p>
          <a:p>
            <a:pPr>
              <a:spcAft>
                <a:spcPts val="400"/>
              </a:spcAft>
              <a:defRPr sz="1300">
                <a:solidFill>
                  <a:srgbClr val="3C3C41"/>
                </a:solidFill>
              </a:defRPr>
            </a:pPr>
            <a:r>
              <a:t>• Release safety gates</a:t>
            </a:r>
          </a:p>
          <a:p>
            <a:pPr>
              <a:spcAft>
                <a:spcPts val="400"/>
              </a:spcAft>
              <a:defRPr sz="1300">
                <a:solidFill>
                  <a:srgbClr val="3C3C41"/>
                </a:solidFill>
              </a:defRPr>
            </a:pPr>
            <a:r>
              <a:t>• Fewer rollbacks/hotfixes</a:t>
            </a:r>
          </a:p>
          <a:p>
            <a:pPr>
              <a:spcAft>
                <a:spcPts val="400"/>
              </a:spcAft>
              <a:defRPr sz="1300">
                <a:solidFill>
                  <a:srgbClr val="3C3C41"/>
                </a:solidFill>
              </a:defRPr>
            </a:pPr>
            <a:r>
              <a:t>• Defect escape prevention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3749040"/>
            <a:ext cx="5669280" cy="530352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C878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3977640"/>
            <a:ext cx="512064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C87800"/>
                </a:solidFill>
              </a:defRPr>
            </a:pPr>
            <a:r>
              <a:t>Pillar 3 Automated Evidence Packs</a:t>
            </a:r>
          </a:p>
          <a:p>
            <a:pPr>
              <a:spcBef>
                <a:spcPts val="800"/>
              </a:spcBef>
              <a:defRPr sz="1400">
                <a:solidFill>
                  <a:srgbClr val="646464"/>
                </a:solidFill>
              </a:defRPr>
            </a:pPr>
            <a:r>
              <a:t>18,360 hrs/yr (11 FTEs)</a:t>
            </a:r>
          </a:p>
          <a:p>
            <a:pPr>
              <a:spcAft>
                <a:spcPts val="400"/>
              </a:spcAft>
              <a:defRPr sz="1300">
                <a:solidFill>
                  <a:srgbClr val="3C3C41"/>
                </a:solidFill>
              </a:defRPr>
            </a:pPr>
            <a:r>
              <a:t>• Release attestation</a:t>
            </a:r>
          </a:p>
          <a:p>
            <a:pPr>
              <a:spcAft>
                <a:spcPts val="400"/>
              </a:spcAft>
              <a:defRPr sz="1300">
                <a:solidFill>
                  <a:srgbClr val="3C3C41"/>
                </a:solidFill>
              </a:defRPr>
            </a:pPr>
            <a:r>
              <a:t>• Audit-by-design</a:t>
            </a:r>
          </a:p>
          <a:p>
            <a:pPr>
              <a:spcAft>
                <a:spcPts val="400"/>
              </a:spcAft>
              <a:defRPr sz="1300">
                <a:solidFill>
                  <a:srgbClr val="3C3C41"/>
                </a:solidFill>
              </a:defRPr>
            </a:pPr>
            <a:r>
              <a:t>• Compliance as by-product</a:t>
            </a:r>
          </a:p>
          <a:p>
            <a:pPr>
              <a:spcAft>
                <a:spcPts val="400"/>
              </a:spcAft>
              <a:defRPr sz="1300">
                <a:solidFill>
                  <a:srgbClr val="3C3C41"/>
                </a:solidFill>
              </a:defRPr>
            </a:pPr>
            <a:r>
              <a:t>• Evidence pack automation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583680" y="3749040"/>
            <a:ext cx="5669280" cy="530352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8C3C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858000" y="3977640"/>
            <a:ext cx="512064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8C3CA0"/>
                </a:solidFill>
              </a:defRPr>
            </a:pPr>
            <a:r>
              <a:t>Pillar 4 Resilience Validation</a:t>
            </a:r>
          </a:p>
          <a:p>
            <a:pPr>
              <a:spcBef>
                <a:spcPts val="800"/>
              </a:spcBef>
              <a:defRPr sz="1400">
                <a:solidFill>
                  <a:srgbClr val="646464"/>
                </a:solidFill>
              </a:defRPr>
            </a:pPr>
            <a:r>
              <a:t>12,240 hrs/yr (7 FTEs)</a:t>
            </a:r>
          </a:p>
          <a:p>
            <a:pPr>
              <a:spcAft>
                <a:spcPts val="400"/>
              </a:spcAft>
              <a:defRPr sz="1300">
                <a:solidFill>
                  <a:srgbClr val="3C3C41"/>
                </a:solidFill>
              </a:defRPr>
            </a:pPr>
            <a:r>
              <a:t>• Load/stress testing</a:t>
            </a:r>
          </a:p>
          <a:p>
            <a:pPr>
              <a:spcAft>
                <a:spcPts val="400"/>
              </a:spcAft>
              <a:defRPr sz="1300">
                <a:solidFill>
                  <a:srgbClr val="3C3C41"/>
                </a:solidFill>
              </a:defRPr>
            </a:pPr>
            <a:r>
              <a:t>• Chaos engineering</a:t>
            </a:r>
          </a:p>
          <a:p>
            <a:pPr>
              <a:spcAft>
                <a:spcPts val="400"/>
              </a:spcAft>
              <a:defRPr sz="1300">
                <a:solidFill>
                  <a:srgbClr val="3C3C41"/>
                </a:solidFill>
              </a:defRPr>
            </a:pPr>
            <a:r>
              <a:t>• DR/BC pre-prod validation</a:t>
            </a:r>
          </a:p>
          <a:p>
            <a:pPr>
              <a:spcAft>
                <a:spcPts val="400"/>
              </a:spcAft>
              <a:defRPr sz="1300">
                <a:solidFill>
                  <a:srgbClr val="3C3C41"/>
                </a:solidFill>
              </a:defRPr>
            </a:pPr>
            <a:r>
              <a:t>• External dependency reduction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5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11277295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2D5591"/>
                </a:solidFill>
              </a:defRPr>
            </a:pPr>
            <a:r>
              <a:t>Agentic QE: The AI Enabler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320040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2D5591"/>
                </a:solidFill>
              </a:defRPr>
            </a:pPr>
            <a:r>
              <a:t>What is Agentic QE?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840480" y="1005840"/>
            <a:ext cx="7772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32323C"/>
                </a:solidFill>
              </a:defRPr>
            </a:pPr>
            <a:r>
              <a:t>60+ AI-powered QE agents that auto-generate tests, find coverage gaps, detect flaky tests, and learn codebase patterns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2194560"/>
            <a:ext cx="320040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2D5591"/>
                </a:solidFill>
              </a:defRPr>
            </a:pPr>
            <a:r>
              <a:t>Key Capabilities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40480" y="2194560"/>
            <a:ext cx="7772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32323C"/>
                </a:solidFill>
              </a:defRPr>
            </a:pPr>
            <a:r>
              <a:t>• Test generation (unit, integration, e2e)</a:t>
            </a:r>
            <a:br/>
            <a:r>
              <a:t>• Coverage gap analysis with risk-weighting</a:t>
            </a:r>
            <a:br/>
            <a:r>
              <a:t>• Self-healing test automation</a:t>
            </a:r>
            <a:br/>
            <a:r>
              <a:t>• Multi-agent orchestration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3383280"/>
            <a:ext cx="320040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2D5591"/>
                </a:solidFill>
              </a:defRPr>
            </a:pPr>
            <a:r>
              <a:t>Platform Support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840480" y="3383280"/>
            <a:ext cx="7772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32323C"/>
                </a:solidFill>
              </a:defRPr>
            </a:pPr>
            <a:r>
              <a:t>Works with Claude Code, Cursor, Cline, Copilot, and 7+ other coding agents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4572000"/>
            <a:ext cx="320040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2D5591"/>
                </a:solidFill>
              </a:defRPr>
            </a:pPr>
            <a:r>
              <a:t>Industry Validation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840480" y="4572000"/>
            <a:ext cx="7772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32323C"/>
                </a:solidFill>
              </a:defRPr>
            </a:pPr>
            <a:r>
              <a:t>Amdocs, Tech Mahindra, Cognizant, Narwal.ai all adopting agentic QE approaches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CFC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112772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400" b="1">
                <a:solidFill>
                  <a:srgbClr val="008264"/>
                </a:solidFill>
              </a:defRPr>
            </a:pPr>
            <a:r>
              <a:t>Industry Validation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280160"/>
            <a:ext cx="10515600" cy="5029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1000"/>
              </a:spcAft>
              <a:defRPr sz="2000">
                <a:solidFill>
                  <a:srgbClr val="282D37"/>
                </a:solidFill>
              </a:defRPr>
            </a:pPr>
            <a:r>
              <a:t>• Amdocs - Launched Amdocs Quality Engineering Agentic AI Solution</a:t>
            </a:r>
          </a:p>
          <a:p>
            <a:pPr>
              <a:spcAft>
                <a:spcPts val="1000"/>
              </a:spcAft>
              <a:defRPr sz="2000">
                <a:solidFill>
                  <a:srgbClr val="282D37"/>
                </a:solidFill>
              </a:defRPr>
            </a:pPr>
            <a:r>
              <a:t>• Tech Mahindra - Multi-agent AI for QE transformations</a:t>
            </a:r>
          </a:p>
          <a:p>
            <a:pPr>
              <a:spcAft>
                <a:spcPts val="1000"/>
              </a:spcAft>
              <a:defRPr sz="2000">
                <a:solidFill>
                  <a:srgbClr val="282D37"/>
                </a:solidFill>
              </a:defRPr>
            </a:pPr>
            <a:r>
              <a:t>• Cognizant - 50+ MVP use cases, ~70% productivity improvement</a:t>
            </a:r>
          </a:p>
          <a:p>
            <a:pPr>
              <a:spcAft>
                <a:spcPts val="1000"/>
              </a:spcAft>
              <a:defRPr sz="2000">
                <a:solidFill>
                  <a:srgbClr val="282D37"/>
                </a:solidFill>
              </a:defRPr>
            </a:pPr>
            <a:r>
              <a:t>• Narwal.ai - Enterprise QE accelerators with autonomous assurance</a:t>
            </a:r>
          </a:p>
          <a:p>
            <a:pPr>
              <a:spcAft>
                <a:spcPts val="1000"/>
              </a:spcAft>
              <a:defRPr sz="2000">
                <a:solidFill>
                  <a:srgbClr val="282D37"/>
                </a:solidFill>
              </a:defRPr>
            </a:pPr>
            <a:r>
              <a:t>• Gartner predicts 33% of enterprise apps will have agentic AI by 2028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93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112772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400" b="1">
                <a:solidFill>
                  <a:srgbClr val="FFFFFF"/>
                </a:solidFill>
              </a:defRPr>
            </a:pPr>
            <a:r>
              <a:t>Value Breakdown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182880" y="1371600"/>
            <a:ext cx="2545003" cy="3200400"/>
          </a:xfrm>
          <a:prstGeom prst="roundRect">
            <a:avLst/>
          </a:prstGeom>
          <a:solidFill>
            <a:srgbClr val="FFFFFF"/>
          </a:solidFill>
          <a:ln>
            <a:solidFill>
              <a:srgbClr val="0078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1645920"/>
            <a:ext cx="2179243" cy="2651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000" b="1">
                <a:solidFill>
                  <a:srgbClr val="00785A"/>
                </a:solidFill>
              </a:defRPr>
            </a:pPr>
            <a:r>
              <a:t>€4.68M</a:t>
            </a:r>
          </a:p>
          <a:p>
            <a:pPr algn="ctr">
              <a:defRPr sz="1800">
                <a:solidFill>
                  <a:srgbClr val="3C414B"/>
                </a:solidFill>
              </a:defRPr>
            </a:pPr>
            <a:r>
              <a:t>Productivity/Capacity</a:t>
            </a:r>
            <a:br/>
            <a:r>
              <a:t>(2% time reclaimed)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002203" y="1371600"/>
            <a:ext cx="2545003" cy="3200400"/>
          </a:xfrm>
          <a:prstGeom prst="roundRect">
            <a:avLst/>
          </a:prstGeom>
          <a:solidFill>
            <a:srgbClr val="FFFFFF"/>
          </a:solidFill>
          <a:ln>
            <a:solidFill>
              <a:srgbClr val="0078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185083" y="1645920"/>
            <a:ext cx="2179243" cy="2651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000" b="1">
                <a:solidFill>
                  <a:srgbClr val="00785A"/>
                </a:solidFill>
              </a:defRPr>
            </a:pPr>
            <a:r>
              <a:t>€4.41M</a:t>
            </a:r>
          </a:p>
          <a:p>
            <a:pPr algn="ctr">
              <a:defRPr sz="1800">
                <a:solidFill>
                  <a:srgbClr val="3C414B"/>
                </a:solidFill>
              </a:defRPr>
            </a:pPr>
            <a:r>
              <a:t>Hard Avoidance</a:t>
            </a:r>
            <a:br/>
            <a:r>
              <a:t>(incidents, vuln, audit toil)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821527" y="1371600"/>
            <a:ext cx="2545003" cy="3200400"/>
          </a:xfrm>
          <a:prstGeom prst="roundRect">
            <a:avLst/>
          </a:prstGeom>
          <a:solidFill>
            <a:srgbClr val="FFFFFF"/>
          </a:solidFill>
          <a:ln>
            <a:solidFill>
              <a:srgbClr val="0078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004407" y="1645920"/>
            <a:ext cx="2179243" cy="2651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000" b="1">
                <a:solidFill>
                  <a:srgbClr val="00785A"/>
                </a:solidFill>
              </a:defRPr>
            </a:pPr>
            <a:r>
              <a:t>34 hrs</a:t>
            </a:r>
          </a:p>
          <a:p>
            <a:pPr algn="ctr">
              <a:defRPr sz="1800">
                <a:solidFill>
                  <a:srgbClr val="3C414B"/>
                </a:solidFill>
              </a:defRPr>
            </a:pPr>
            <a:r>
              <a:t>Per Developer</a:t>
            </a:r>
            <a:br/>
            <a:r>
              <a:t>Per Year Reclaimed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640851" y="1371600"/>
            <a:ext cx="2545003" cy="3200400"/>
          </a:xfrm>
          <a:prstGeom prst="roundRect">
            <a:avLst/>
          </a:prstGeom>
          <a:solidFill>
            <a:srgbClr val="FFFFFF"/>
          </a:solidFill>
          <a:ln>
            <a:solidFill>
              <a:srgbClr val="0078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823731" y="1645920"/>
            <a:ext cx="2179243" cy="2651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000" b="1">
                <a:solidFill>
                  <a:srgbClr val="00785A"/>
                </a:solidFill>
              </a:defRPr>
            </a:pPr>
            <a:r>
              <a:t>€38.24</a:t>
            </a:r>
          </a:p>
          <a:p>
            <a:pPr algn="ctr">
              <a:defRPr sz="1800">
                <a:solidFill>
                  <a:srgbClr val="3C414B"/>
                </a:solidFill>
              </a:defRPr>
            </a:pPr>
            <a:r>
              <a:t>Hourly Rate</a:t>
            </a:r>
            <a:br/>
            <a:r>
              <a:t>(€65k / 1,700 hrs)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CFC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112772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400" b="1">
                <a:solidFill>
                  <a:srgbClr val="643C8C"/>
                </a:solidFill>
              </a:defRPr>
            </a:pPr>
            <a:r>
              <a:t>Recommended Next Steps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280160"/>
            <a:ext cx="10515600" cy="5029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1000"/>
              </a:spcAft>
              <a:defRPr sz="2000">
                <a:solidFill>
                  <a:srgbClr val="282D37"/>
                </a:solidFill>
              </a:defRPr>
            </a:pPr>
            <a:r>
              <a:t>• Phase 1 (3 months): Pilot Agentic QE on 2 payment platform projects</a:t>
            </a:r>
          </a:p>
          <a:p>
            <a:pPr>
              <a:spcAft>
                <a:spcPts val="1000"/>
              </a:spcAft>
              <a:defRPr sz="2000">
                <a:solidFill>
                  <a:srgbClr val="282D37"/>
                </a:solidFill>
              </a:defRPr>
            </a:pPr>
            <a:r>
              <a:t>• Phase 2 (6 months): Deploy unified CI/CD guardrails, measure adoption</a:t>
            </a:r>
          </a:p>
          <a:p>
            <a:pPr>
              <a:spcAft>
                <a:spcPts val="1000"/>
              </a:spcAft>
              <a:defRPr sz="2000">
                <a:solidFill>
                  <a:srgbClr val="282D37"/>
                </a:solidFill>
              </a:defRPr>
            </a:pPr>
            <a:r>
              <a:t>• Phase 3 (12 months): Full rollout, achieve 100% adoption target</a:t>
            </a:r>
          </a:p>
          <a:p>
            <a:pPr>
              <a:spcAft>
                <a:spcPts val="1000"/>
              </a:spcAft>
              <a:defRPr sz="2000">
                <a:solidFill>
                  <a:srgbClr val="282D37"/>
                </a:solidFill>
              </a:defRPr>
            </a:pPr>
            <a:r>
              <a:t>• Expected: €2.27M benefit at 25% adoption → €9.09M at 100%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93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560320"/>
            <a:ext cx="11277295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400" b="1">
                <a:solidFill>
                  <a:srgbClr val="FFFFFF"/>
                </a:solidFill>
              </a:defRPr>
            </a:pPr>
            <a:r>
              <a:t>Ready to Transform Assurance?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3931920"/>
            <a:ext cx="11277295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>
                <a:solidFill>
                  <a:srgbClr val="B4C8E6"/>
                </a:solidFill>
              </a:defRPr>
            </a:pPr>
            <a:r>
              <a:t>From optional quality to mandatory, automated confidence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